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8" r:id="rId3"/>
    <p:sldId id="257" r:id="rId4"/>
    <p:sldId id="270" r:id="rId5"/>
    <p:sldId id="271" r:id="rId6"/>
    <p:sldId id="272" r:id="rId7"/>
    <p:sldId id="269" r:id="rId8"/>
    <p:sldId id="273" r:id="rId9"/>
    <p:sldId id="274" r:id="rId10"/>
    <p:sldId id="275" r:id="rId11"/>
    <p:sldId id="276" r:id="rId12"/>
    <p:sldId id="265" r:id="rId13"/>
  </p:sldIdLst>
  <p:sldSz cx="18288000" cy="10287000"/>
  <p:notesSz cx="6858000" cy="9144000"/>
  <p:embeddedFontLst>
    <p:embeddedFont>
      <p:font typeface="Century Gothic Paneuropean" panose="020B0604020202020204" charset="0"/>
      <p:regular r:id="rId14"/>
    </p:embeddedFont>
    <p:embeddedFont>
      <p:font typeface="Century Gothic Paneuropean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91555B-5DD2-4653-85C5-A4F9615A0BE4}" v="6" dt="2026-08-01T08:37:26.6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09800" y="4127331"/>
            <a:ext cx="13018493" cy="1015663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lvl="1" algn="ctr"/>
            <a:r>
              <a:rPr lang="en-US" sz="6600" b="1" dirty="0">
                <a:solidFill>
                  <a:srgbClr val="000000"/>
                </a:solidFill>
                <a:latin typeface="Times New Roman" panose="02020603050405020304" pitchFamily="18" charset="0"/>
                <a:ea typeface="Century Gothic Paneuropean Bold"/>
                <a:cs typeface="Times New Roman" panose="02020603050405020304" pitchFamily="18" charset="0"/>
                <a:sym typeface="Century Gothic Paneuropean Bold"/>
              </a:rPr>
              <a:t>Technical Presentation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535028AD-1F79-1C10-49AC-D82B097D0754}"/>
              </a:ext>
            </a:extLst>
          </p:cNvPr>
          <p:cNvSpPr txBox="1"/>
          <p:nvPr/>
        </p:nvSpPr>
        <p:spPr>
          <a:xfrm>
            <a:off x="10677889" y="7845637"/>
            <a:ext cx="7086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pPr algn="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K. Dedeepya (192324252)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75BFA1C4-E49F-F8AA-B9FB-723C9D134E03}"/>
              </a:ext>
            </a:extLst>
          </p:cNvPr>
          <p:cNvGrpSpPr/>
          <p:nvPr/>
        </p:nvGrpSpPr>
        <p:grpSpPr>
          <a:xfrm>
            <a:off x="533429" y="415938"/>
            <a:ext cx="17221105" cy="2215782"/>
            <a:chOff x="0" y="0"/>
            <a:chExt cx="22961473" cy="295437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9BD5B7A-CD83-5DAC-B9DE-D516CB78C76A}"/>
                </a:ext>
              </a:extLst>
            </p:cNvPr>
            <p:cNvSpPr/>
            <p:nvPr/>
          </p:nvSpPr>
          <p:spPr>
            <a:xfrm>
              <a:off x="0" y="0"/>
              <a:ext cx="22961473" cy="2954401"/>
            </a:xfrm>
            <a:custGeom>
              <a:avLst/>
              <a:gdLst/>
              <a:ahLst/>
              <a:cxnLst/>
              <a:rect l="l" t="t" r="r" b="b"/>
              <a:pathLst>
                <a:path w="22961473" h="2954401">
                  <a:moveTo>
                    <a:pt x="0" y="0"/>
                  </a:moveTo>
                  <a:lnTo>
                    <a:pt x="22961473" y="0"/>
                  </a:lnTo>
                  <a:lnTo>
                    <a:pt x="22961473" y="2954401"/>
                  </a:lnTo>
                  <a:lnTo>
                    <a:pt x="0" y="29544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9C51913E-94AB-E7AA-B3E9-72FF4ADE563E}"/>
              </a:ext>
            </a:extLst>
          </p:cNvPr>
          <p:cNvSpPr txBox="1"/>
          <p:nvPr/>
        </p:nvSpPr>
        <p:spPr>
          <a:xfrm>
            <a:off x="533429" y="7883705"/>
            <a:ext cx="5715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Anakath 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4090EA-9E56-3909-4F75-D76112703986}"/>
              </a:ext>
            </a:extLst>
          </p:cNvPr>
          <p:cNvSpPr txBox="1"/>
          <p:nvPr/>
        </p:nvSpPr>
        <p:spPr>
          <a:xfrm>
            <a:off x="7086600" y="5463822"/>
            <a:ext cx="3048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ITA0602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2CF6E-0A92-0367-068B-ACDC402E6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252FF743-2EEA-CACF-28FD-D52CE3C1E353}"/>
              </a:ext>
            </a:extLst>
          </p:cNvPr>
          <p:cNvSpPr txBox="1"/>
          <p:nvPr/>
        </p:nvSpPr>
        <p:spPr>
          <a:xfrm>
            <a:off x="2362200" y="2195680"/>
            <a:ext cx="12454772" cy="1175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buNone/>
            </a:pPr>
            <a:br>
              <a:rPr lang="en-IN" sz="4000" dirty="0"/>
            </a:br>
            <a:endParaRPr lang="en-US" sz="3640" dirty="0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grpSp>
        <p:nvGrpSpPr>
          <p:cNvPr id="15" name="Group 6">
            <a:extLst>
              <a:ext uri="{FF2B5EF4-FFF2-40B4-BE49-F238E27FC236}">
                <a16:creationId xmlns:a16="http://schemas.microsoft.com/office/drawing/2014/main" id="{234FFBE5-7460-91F1-9F4E-2D3B24825A43}"/>
              </a:ext>
            </a:extLst>
          </p:cNvPr>
          <p:cNvGrpSpPr/>
          <p:nvPr/>
        </p:nvGrpSpPr>
        <p:grpSpPr>
          <a:xfrm>
            <a:off x="252955" y="0"/>
            <a:ext cx="1516666" cy="1990439"/>
            <a:chOff x="0" y="0"/>
            <a:chExt cx="2022221" cy="2653919"/>
          </a:xfrm>
        </p:grpSpPr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0FC821BC-45CC-1AC5-E8BE-FE269DEEA8C6}"/>
                </a:ext>
              </a:extLst>
            </p:cNvPr>
            <p:cNvSpPr/>
            <p:nvPr/>
          </p:nvSpPr>
          <p:spPr>
            <a:xfrm>
              <a:off x="0" y="0"/>
              <a:ext cx="2022221" cy="2653919"/>
            </a:xfrm>
            <a:custGeom>
              <a:avLst/>
              <a:gdLst/>
              <a:ahLst/>
              <a:cxnLst/>
              <a:rect l="l" t="t" r="r" b="b"/>
              <a:pathLst>
                <a:path w="2022221" h="2653919">
                  <a:moveTo>
                    <a:pt x="0" y="0"/>
                  </a:moveTo>
                  <a:lnTo>
                    <a:pt x="2022221" y="0"/>
                  </a:lnTo>
                  <a:lnTo>
                    <a:pt x="2022221" y="2653919"/>
                  </a:lnTo>
                  <a:lnTo>
                    <a:pt x="0" y="2653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30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7" name="Group 4">
            <a:extLst>
              <a:ext uri="{FF2B5EF4-FFF2-40B4-BE49-F238E27FC236}">
                <a16:creationId xmlns:a16="http://schemas.microsoft.com/office/drawing/2014/main" id="{353A16AD-AA50-25DD-9D82-8C2A63213672}"/>
              </a:ext>
            </a:extLst>
          </p:cNvPr>
          <p:cNvGrpSpPr/>
          <p:nvPr/>
        </p:nvGrpSpPr>
        <p:grpSpPr>
          <a:xfrm>
            <a:off x="15988913" y="163982"/>
            <a:ext cx="1885188" cy="1885236"/>
            <a:chOff x="0" y="0"/>
            <a:chExt cx="2513584" cy="2513648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5B56B53A-D537-9BAD-F6FF-5250D8B18841}"/>
                </a:ext>
              </a:extLst>
            </p:cNvPr>
            <p:cNvSpPr/>
            <p:nvPr/>
          </p:nvSpPr>
          <p:spPr>
            <a:xfrm>
              <a:off x="0" y="0"/>
              <a:ext cx="2513584" cy="2513584"/>
            </a:xfrm>
            <a:custGeom>
              <a:avLst/>
              <a:gdLst/>
              <a:ahLst/>
              <a:cxnLst/>
              <a:rect l="l" t="t" r="r" b="b"/>
              <a:pathLst>
                <a:path w="2513584" h="2513584">
                  <a:moveTo>
                    <a:pt x="0" y="0"/>
                  </a:moveTo>
                  <a:lnTo>
                    <a:pt x="2513584" y="0"/>
                  </a:lnTo>
                  <a:lnTo>
                    <a:pt x="2513584" y="2513584"/>
                  </a:lnTo>
                  <a:lnTo>
                    <a:pt x="0" y="2513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2" b="-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FCEC09FA-2233-CE7D-5AC0-BAC3CB104917}"/>
              </a:ext>
            </a:extLst>
          </p:cNvPr>
          <p:cNvSpPr txBox="1"/>
          <p:nvPr/>
        </p:nvSpPr>
        <p:spPr>
          <a:xfrm>
            <a:off x="1143000" y="3846871"/>
            <a:ext cx="7162800" cy="3735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IN" sz="3200" b="1" i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0" i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Removes unwanted or incorrect data.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0" i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Handles missing values.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0" i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Normalizes data for better performance.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0" i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Selects important features.</a:t>
            </a:r>
            <a:endParaRPr lang="en-IN" sz="32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177FBD9-152C-57BC-856E-2AAADA2E808A}"/>
              </a:ext>
            </a:extLst>
          </p:cNvPr>
          <p:cNvSpPr txBox="1"/>
          <p:nvPr/>
        </p:nvSpPr>
        <p:spPr>
          <a:xfrm>
            <a:off x="3471028" y="1152229"/>
            <a:ext cx="102449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Preprocessing, Post-processing, and Evaluation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418CAD5-CBF0-4A4D-E124-43146872BF67}"/>
              </a:ext>
            </a:extLst>
          </p:cNvPr>
          <p:cNvSpPr txBox="1"/>
          <p:nvPr/>
        </p:nvSpPr>
        <p:spPr>
          <a:xfrm>
            <a:off x="10134600" y="3848100"/>
            <a:ext cx="7162800" cy="3735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IN" sz="32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Post-processing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Refines model predictions.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Adjusts decision thresholds.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Displays results using graphs and charts.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Makes output easier to understand.</a:t>
            </a:r>
          </a:p>
        </p:txBody>
      </p:sp>
    </p:spTree>
    <p:extLst>
      <p:ext uri="{BB962C8B-B14F-4D97-AF65-F5344CB8AC3E}">
        <p14:creationId xmlns:p14="http://schemas.microsoft.com/office/powerpoint/2010/main" val="1566431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6">
            <a:extLst>
              <a:ext uri="{FF2B5EF4-FFF2-40B4-BE49-F238E27FC236}">
                <a16:creationId xmlns:a16="http://schemas.microsoft.com/office/drawing/2014/main" id="{A18CEFC4-77C5-84E0-6839-2F6988E77326}"/>
              </a:ext>
            </a:extLst>
          </p:cNvPr>
          <p:cNvGrpSpPr/>
          <p:nvPr/>
        </p:nvGrpSpPr>
        <p:grpSpPr>
          <a:xfrm>
            <a:off x="252955" y="0"/>
            <a:ext cx="1516666" cy="1990439"/>
            <a:chOff x="0" y="0"/>
            <a:chExt cx="2022221" cy="2653919"/>
          </a:xfrm>
        </p:grpSpPr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9A2E770F-F315-1DAD-6A37-3BCECFEBD9F6}"/>
                </a:ext>
              </a:extLst>
            </p:cNvPr>
            <p:cNvSpPr/>
            <p:nvPr/>
          </p:nvSpPr>
          <p:spPr>
            <a:xfrm>
              <a:off x="0" y="0"/>
              <a:ext cx="2022221" cy="2653919"/>
            </a:xfrm>
            <a:custGeom>
              <a:avLst/>
              <a:gdLst/>
              <a:ahLst/>
              <a:cxnLst/>
              <a:rect l="l" t="t" r="r" b="b"/>
              <a:pathLst>
                <a:path w="2022221" h="2653919">
                  <a:moveTo>
                    <a:pt x="0" y="0"/>
                  </a:moveTo>
                  <a:lnTo>
                    <a:pt x="2022221" y="0"/>
                  </a:lnTo>
                  <a:lnTo>
                    <a:pt x="2022221" y="2653919"/>
                  </a:lnTo>
                  <a:lnTo>
                    <a:pt x="0" y="2653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30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7" name="Group 4">
            <a:extLst>
              <a:ext uri="{FF2B5EF4-FFF2-40B4-BE49-F238E27FC236}">
                <a16:creationId xmlns:a16="http://schemas.microsoft.com/office/drawing/2014/main" id="{62D20EB1-6D2C-CFC5-793E-B048E648A04E}"/>
              </a:ext>
            </a:extLst>
          </p:cNvPr>
          <p:cNvGrpSpPr/>
          <p:nvPr/>
        </p:nvGrpSpPr>
        <p:grpSpPr>
          <a:xfrm>
            <a:off x="15988913" y="163982"/>
            <a:ext cx="1885188" cy="1885236"/>
            <a:chOff x="0" y="0"/>
            <a:chExt cx="2513584" cy="2513648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92617EFA-8E91-DB83-5EF4-1FEC3668E2F3}"/>
                </a:ext>
              </a:extLst>
            </p:cNvPr>
            <p:cNvSpPr/>
            <p:nvPr/>
          </p:nvSpPr>
          <p:spPr>
            <a:xfrm>
              <a:off x="0" y="0"/>
              <a:ext cx="2513584" cy="2513584"/>
            </a:xfrm>
            <a:custGeom>
              <a:avLst/>
              <a:gdLst/>
              <a:ahLst/>
              <a:cxnLst/>
              <a:rect l="l" t="t" r="r" b="b"/>
              <a:pathLst>
                <a:path w="2513584" h="2513584">
                  <a:moveTo>
                    <a:pt x="0" y="0"/>
                  </a:moveTo>
                  <a:lnTo>
                    <a:pt x="2513584" y="0"/>
                  </a:lnTo>
                  <a:lnTo>
                    <a:pt x="2513584" y="2513584"/>
                  </a:lnTo>
                  <a:lnTo>
                    <a:pt x="0" y="2513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2" b="-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0F098EBC-A2D0-927F-9858-8BEBEB4C5274}"/>
              </a:ext>
            </a:extLst>
          </p:cNvPr>
          <p:cNvSpPr txBox="1"/>
          <p:nvPr/>
        </p:nvSpPr>
        <p:spPr>
          <a:xfrm>
            <a:off x="1011288" y="3619500"/>
            <a:ext cx="7142112" cy="4474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32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lang="en-US" sz="32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 Overall correctness.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Precision</a:t>
            </a:r>
            <a:r>
              <a:rPr lang="en-US" sz="32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 Correct positive predictions.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  <a:r>
              <a:rPr lang="en-US" sz="32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 Finds actual positive cases.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F1-Score</a:t>
            </a:r>
            <a:r>
              <a:rPr lang="en-US" sz="32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 Balance of precision and recall.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E1FAA0-2AE1-D8F8-FDF0-120EAAF3FA80}"/>
              </a:ext>
            </a:extLst>
          </p:cNvPr>
          <p:cNvSpPr txBox="1"/>
          <p:nvPr/>
        </p:nvSpPr>
        <p:spPr>
          <a:xfrm>
            <a:off x="6248400" y="969409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36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Model Evaluation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9F81379-4CBF-0231-2B15-7ADED5689EB7}"/>
              </a:ext>
            </a:extLst>
          </p:cNvPr>
          <p:cNvSpPr txBox="1"/>
          <p:nvPr/>
        </p:nvSpPr>
        <p:spPr>
          <a:xfrm>
            <a:off x="10377004" y="3620729"/>
            <a:ext cx="7472516" cy="4474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32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Validation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Train-Test Split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Cross-Validation</a:t>
            </a:r>
            <a:endParaRPr lang="en-US" sz="3200" b="1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en-US" sz="32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  <a:br>
              <a:rPr lang="en-US" sz="32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Proper preprocessing and evaluation improve model accuracy and reliability.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69EF0-4AAA-B610-7454-9ED7201E8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26DA575B-2A74-D437-345C-48A147238794}"/>
              </a:ext>
            </a:extLst>
          </p:cNvPr>
          <p:cNvSpPr txBox="1"/>
          <p:nvPr/>
        </p:nvSpPr>
        <p:spPr>
          <a:xfrm>
            <a:off x="2362200" y="2195680"/>
            <a:ext cx="12454772" cy="1175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buNone/>
            </a:pPr>
            <a:br>
              <a:rPr lang="en-IN" sz="4000" dirty="0"/>
            </a:br>
            <a:endParaRPr lang="en-US" sz="3640" dirty="0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grpSp>
        <p:nvGrpSpPr>
          <p:cNvPr id="15" name="Group 6">
            <a:extLst>
              <a:ext uri="{FF2B5EF4-FFF2-40B4-BE49-F238E27FC236}">
                <a16:creationId xmlns:a16="http://schemas.microsoft.com/office/drawing/2014/main" id="{B7395DCE-EAE3-1CFE-424A-42081668C714}"/>
              </a:ext>
            </a:extLst>
          </p:cNvPr>
          <p:cNvGrpSpPr/>
          <p:nvPr/>
        </p:nvGrpSpPr>
        <p:grpSpPr>
          <a:xfrm>
            <a:off x="252955" y="0"/>
            <a:ext cx="1516666" cy="1990439"/>
            <a:chOff x="0" y="0"/>
            <a:chExt cx="2022221" cy="2653919"/>
          </a:xfrm>
        </p:grpSpPr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E2F72AB4-7D4B-D05C-1F31-888C73FDDB27}"/>
                </a:ext>
              </a:extLst>
            </p:cNvPr>
            <p:cNvSpPr/>
            <p:nvPr/>
          </p:nvSpPr>
          <p:spPr>
            <a:xfrm>
              <a:off x="0" y="0"/>
              <a:ext cx="2022221" cy="2653919"/>
            </a:xfrm>
            <a:custGeom>
              <a:avLst/>
              <a:gdLst/>
              <a:ahLst/>
              <a:cxnLst/>
              <a:rect l="l" t="t" r="r" b="b"/>
              <a:pathLst>
                <a:path w="2022221" h="2653919">
                  <a:moveTo>
                    <a:pt x="0" y="0"/>
                  </a:moveTo>
                  <a:lnTo>
                    <a:pt x="2022221" y="0"/>
                  </a:lnTo>
                  <a:lnTo>
                    <a:pt x="2022221" y="2653919"/>
                  </a:lnTo>
                  <a:lnTo>
                    <a:pt x="0" y="2653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30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7" name="Group 4">
            <a:extLst>
              <a:ext uri="{FF2B5EF4-FFF2-40B4-BE49-F238E27FC236}">
                <a16:creationId xmlns:a16="http://schemas.microsoft.com/office/drawing/2014/main" id="{2F6F1360-4183-6336-91E2-1379D06C6DF9}"/>
              </a:ext>
            </a:extLst>
          </p:cNvPr>
          <p:cNvGrpSpPr/>
          <p:nvPr/>
        </p:nvGrpSpPr>
        <p:grpSpPr>
          <a:xfrm>
            <a:off x="15988913" y="163982"/>
            <a:ext cx="1885188" cy="1885236"/>
            <a:chOff x="0" y="0"/>
            <a:chExt cx="2513584" cy="2513648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43D017E5-A6B3-7451-4E85-D9315E21E3CB}"/>
                </a:ext>
              </a:extLst>
            </p:cNvPr>
            <p:cNvSpPr/>
            <p:nvPr/>
          </p:nvSpPr>
          <p:spPr>
            <a:xfrm>
              <a:off x="0" y="0"/>
              <a:ext cx="2513584" cy="2513584"/>
            </a:xfrm>
            <a:custGeom>
              <a:avLst/>
              <a:gdLst/>
              <a:ahLst/>
              <a:cxnLst/>
              <a:rect l="l" t="t" r="r" b="b"/>
              <a:pathLst>
                <a:path w="2513584" h="2513584">
                  <a:moveTo>
                    <a:pt x="0" y="0"/>
                  </a:moveTo>
                  <a:lnTo>
                    <a:pt x="2513584" y="0"/>
                  </a:lnTo>
                  <a:lnTo>
                    <a:pt x="2513584" y="2513584"/>
                  </a:lnTo>
                  <a:lnTo>
                    <a:pt x="0" y="2513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2" b="-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9DFAD6A4-16EA-7C2C-DB21-1D63AA818EAF}"/>
              </a:ext>
            </a:extLst>
          </p:cNvPr>
          <p:cNvSpPr txBox="1"/>
          <p:nvPr/>
        </p:nvSpPr>
        <p:spPr>
          <a:xfrm>
            <a:off x="1219200" y="3034166"/>
            <a:ext cx="7162800" cy="2958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 Learning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Learns rules from training examples.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classification tasks.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identify patterns in data.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00C32D-DFAA-968F-1653-F5C59BE6D513}"/>
              </a:ext>
            </a:extLst>
          </p:cNvPr>
          <p:cNvSpPr txBox="1"/>
          <p:nvPr/>
        </p:nvSpPr>
        <p:spPr>
          <a:xfrm>
            <a:off x="3471028" y="1152229"/>
            <a:ext cx="102449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 Learning and Hypothesis Representation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AC5CF3-74E7-F1CE-1C88-5028AEA5CE3E}"/>
              </a:ext>
            </a:extLst>
          </p:cNvPr>
          <p:cNvSpPr txBox="1"/>
          <p:nvPr/>
        </p:nvSpPr>
        <p:spPr>
          <a:xfrm>
            <a:off x="1184787" y="6362700"/>
            <a:ext cx="7162800" cy="2958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prediction accuracy.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Extracts useful knowledge.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intelligent decision-making.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E80239-4DBF-9150-FEFA-05E738F9E9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0" y="3238500"/>
            <a:ext cx="5410200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799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30D55-4FA4-D208-76C4-119634D46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8B90DA28-D2C0-015A-6286-8A8205CD1999}"/>
              </a:ext>
            </a:extLst>
          </p:cNvPr>
          <p:cNvSpPr txBox="1"/>
          <p:nvPr/>
        </p:nvSpPr>
        <p:spPr>
          <a:xfrm>
            <a:off x="2362200" y="2195680"/>
            <a:ext cx="12454772" cy="1175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buNone/>
            </a:pPr>
            <a:br>
              <a:rPr lang="en-IN" sz="4000" dirty="0"/>
            </a:br>
            <a:endParaRPr lang="en-US" sz="3640" dirty="0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grpSp>
        <p:nvGrpSpPr>
          <p:cNvPr id="15" name="Group 6">
            <a:extLst>
              <a:ext uri="{FF2B5EF4-FFF2-40B4-BE49-F238E27FC236}">
                <a16:creationId xmlns:a16="http://schemas.microsoft.com/office/drawing/2014/main" id="{26D18D2E-2529-CAB1-C593-2509066BDD94}"/>
              </a:ext>
            </a:extLst>
          </p:cNvPr>
          <p:cNvGrpSpPr/>
          <p:nvPr/>
        </p:nvGrpSpPr>
        <p:grpSpPr>
          <a:xfrm>
            <a:off x="252955" y="0"/>
            <a:ext cx="1516666" cy="1990439"/>
            <a:chOff x="0" y="0"/>
            <a:chExt cx="2022221" cy="2653919"/>
          </a:xfrm>
        </p:grpSpPr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9B6D8FDB-5EB6-34F6-86A6-664BF2EE6664}"/>
                </a:ext>
              </a:extLst>
            </p:cNvPr>
            <p:cNvSpPr/>
            <p:nvPr/>
          </p:nvSpPr>
          <p:spPr>
            <a:xfrm>
              <a:off x="0" y="0"/>
              <a:ext cx="2022221" cy="2653919"/>
            </a:xfrm>
            <a:custGeom>
              <a:avLst/>
              <a:gdLst/>
              <a:ahLst/>
              <a:cxnLst/>
              <a:rect l="l" t="t" r="r" b="b"/>
              <a:pathLst>
                <a:path w="2022221" h="2653919">
                  <a:moveTo>
                    <a:pt x="0" y="0"/>
                  </a:moveTo>
                  <a:lnTo>
                    <a:pt x="2022221" y="0"/>
                  </a:lnTo>
                  <a:lnTo>
                    <a:pt x="2022221" y="2653919"/>
                  </a:lnTo>
                  <a:lnTo>
                    <a:pt x="0" y="2653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30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7" name="Group 4">
            <a:extLst>
              <a:ext uri="{FF2B5EF4-FFF2-40B4-BE49-F238E27FC236}">
                <a16:creationId xmlns:a16="http://schemas.microsoft.com/office/drawing/2014/main" id="{50301BAD-B461-AAFF-870E-6CF285AEA15F}"/>
              </a:ext>
            </a:extLst>
          </p:cNvPr>
          <p:cNvGrpSpPr/>
          <p:nvPr/>
        </p:nvGrpSpPr>
        <p:grpSpPr>
          <a:xfrm>
            <a:off x="15988913" y="163982"/>
            <a:ext cx="1885188" cy="1885236"/>
            <a:chOff x="0" y="0"/>
            <a:chExt cx="2513584" cy="2513648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F3C7A9CC-52DB-F003-20C4-1962196CF4A8}"/>
                </a:ext>
              </a:extLst>
            </p:cNvPr>
            <p:cNvSpPr/>
            <p:nvPr/>
          </p:nvSpPr>
          <p:spPr>
            <a:xfrm>
              <a:off x="0" y="0"/>
              <a:ext cx="2513584" cy="2513584"/>
            </a:xfrm>
            <a:custGeom>
              <a:avLst/>
              <a:gdLst/>
              <a:ahLst/>
              <a:cxnLst/>
              <a:rect l="l" t="t" r="r" b="b"/>
              <a:pathLst>
                <a:path w="2513584" h="2513584">
                  <a:moveTo>
                    <a:pt x="0" y="0"/>
                  </a:moveTo>
                  <a:lnTo>
                    <a:pt x="2513584" y="0"/>
                  </a:lnTo>
                  <a:lnTo>
                    <a:pt x="2513584" y="2513584"/>
                  </a:lnTo>
                  <a:lnTo>
                    <a:pt x="0" y="2513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2" b="-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E53E377D-C96B-DF88-E01E-F9A1540921FF}"/>
              </a:ext>
            </a:extLst>
          </p:cNvPr>
          <p:cNvSpPr txBox="1"/>
          <p:nvPr/>
        </p:nvSpPr>
        <p:spPr>
          <a:xfrm>
            <a:off x="1426786" y="3875139"/>
            <a:ext cx="7162800" cy="3697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Hypothesis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possible rule that explains the data.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General-to-Specific Ordering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Starts with general rules.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Refines rules using training examples.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9C3037-32D5-8405-360F-84B1A962A4B0}"/>
              </a:ext>
            </a:extLst>
          </p:cNvPr>
          <p:cNvSpPr txBox="1"/>
          <p:nvPr/>
        </p:nvSpPr>
        <p:spPr>
          <a:xfrm>
            <a:off x="5469314" y="1041909"/>
            <a:ext cx="56729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Hypothesis Representation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0FC5C94-CA4E-0906-3188-BAADA906E48E}"/>
              </a:ext>
            </a:extLst>
          </p:cNvPr>
          <p:cNvSpPr txBox="1"/>
          <p:nvPr/>
        </p:nvSpPr>
        <p:spPr>
          <a:xfrm>
            <a:off x="10134600" y="3875139"/>
            <a:ext cx="7162800" cy="2958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classification.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errors.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Easier knowledge extraction.</a:t>
            </a:r>
          </a:p>
        </p:txBody>
      </p:sp>
    </p:spTree>
    <p:extLst>
      <p:ext uri="{BB962C8B-B14F-4D97-AF65-F5344CB8AC3E}">
        <p14:creationId xmlns:p14="http://schemas.microsoft.com/office/powerpoint/2010/main" val="3660139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6627E-09FF-0B47-338C-9B0039318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DB12F3E5-0B5F-6260-9F37-48198F1C89E3}"/>
              </a:ext>
            </a:extLst>
          </p:cNvPr>
          <p:cNvSpPr txBox="1"/>
          <p:nvPr/>
        </p:nvSpPr>
        <p:spPr>
          <a:xfrm>
            <a:off x="2362200" y="2195680"/>
            <a:ext cx="12454772" cy="1175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buNone/>
            </a:pPr>
            <a:br>
              <a:rPr lang="en-IN" sz="4000" dirty="0"/>
            </a:br>
            <a:endParaRPr lang="en-US" sz="3640" dirty="0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grpSp>
        <p:nvGrpSpPr>
          <p:cNvPr id="15" name="Group 6">
            <a:extLst>
              <a:ext uri="{FF2B5EF4-FFF2-40B4-BE49-F238E27FC236}">
                <a16:creationId xmlns:a16="http://schemas.microsoft.com/office/drawing/2014/main" id="{B9014281-C76E-5CE0-CE01-E69374643ADD}"/>
              </a:ext>
            </a:extLst>
          </p:cNvPr>
          <p:cNvGrpSpPr/>
          <p:nvPr/>
        </p:nvGrpSpPr>
        <p:grpSpPr>
          <a:xfrm>
            <a:off x="252955" y="0"/>
            <a:ext cx="1516666" cy="1990439"/>
            <a:chOff x="0" y="0"/>
            <a:chExt cx="2022221" cy="2653919"/>
          </a:xfrm>
        </p:grpSpPr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499D0ACA-A27F-0856-3EB4-0A7DEAA0392C}"/>
                </a:ext>
              </a:extLst>
            </p:cNvPr>
            <p:cNvSpPr/>
            <p:nvPr/>
          </p:nvSpPr>
          <p:spPr>
            <a:xfrm>
              <a:off x="0" y="0"/>
              <a:ext cx="2022221" cy="2653919"/>
            </a:xfrm>
            <a:custGeom>
              <a:avLst/>
              <a:gdLst/>
              <a:ahLst/>
              <a:cxnLst/>
              <a:rect l="l" t="t" r="r" b="b"/>
              <a:pathLst>
                <a:path w="2022221" h="2653919">
                  <a:moveTo>
                    <a:pt x="0" y="0"/>
                  </a:moveTo>
                  <a:lnTo>
                    <a:pt x="2022221" y="0"/>
                  </a:lnTo>
                  <a:lnTo>
                    <a:pt x="2022221" y="2653919"/>
                  </a:lnTo>
                  <a:lnTo>
                    <a:pt x="0" y="2653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30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7" name="Group 4">
            <a:extLst>
              <a:ext uri="{FF2B5EF4-FFF2-40B4-BE49-F238E27FC236}">
                <a16:creationId xmlns:a16="http://schemas.microsoft.com/office/drawing/2014/main" id="{EED7A80D-D1D3-47E8-2192-F7DD9F02FFF6}"/>
              </a:ext>
            </a:extLst>
          </p:cNvPr>
          <p:cNvGrpSpPr/>
          <p:nvPr/>
        </p:nvGrpSpPr>
        <p:grpSpPr>
          <a:xfrm>
            <a:off x="15988913" y="163982"/>
            <a:ext cx="1885188" cy="1885236"/>
            <a:chOff x="0" y="0"/>
            <a:chExt cx="2513584" cy="2513648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C6BE3DD3-1D24-BEC2-2E96-0992164330E0}"/>
                </a:ext>
              </a:extLst>
            </p:cNvPr>
            <p:cNvSpPr/>
            <p:nvPr/>
          </p:nvSpPr>
          <p:spPr>
            <a:xfrm>
              <a:off x="0" y="0"/>
              <a:ext cx="2513584" cy="2513584"/>
            </a:xfrm>
            <a:custGeom>
              <a:avLst/>
              <a:gdLst/>
              <a:ahLst/>
              <a:cxnLst/>
              <a:rect l="l" t="t" r="r" b="b"/>
              <a:pathLst>
                <a:path w="2513584" h="2513584">
                  <a:moveTo>
                    <a:pt x="0" y="0"/>
                  </a:moveTo>
                  <a:lnTo>
                    <a:pt x="2513584" y="0"/>
                  </a:lnTo>
                  <a:lnTo>
                    <a:pt x="2513584" y="2513584"/>
                  </a:lnTo>
                  <a:lnTo>
                    <a:pt x="0" y="2513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2" b="-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00F501C7-75E6-3731-37FA-ABDF4FA8591E}"/>
              </a:ext>
            </a:extLst>
          </p:cNvPr>
          <p:cNvSpPr txBox="1"/>
          <p:nvPr/>
        </p:nvSpPr>
        <p:spPr>
          <a:xfrm>
            <a:off x="1143000" y="3846871"/>
            <a:ext cx="7162800" cy="3697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tree-like model for decision making.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nodes represent features.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Branches represent conditions.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Leaves represent final decisions.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B52882-2BE6-C7E6-6E3F-EEDD655CA4D2}"/>
              </a:ext>
            </a:extLst>
          </p:cNvPr>
          <p:cNvSpPr txBox="1"/>
          <p:nvPr/>
        </p:nvSpPr>
        <p:spPr>
          <a:xfrm>
            <a:off x="4021514" y="1106576"/>
            <a:ext cx="102449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Learning and Representation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C6E1D25-A7B2-5B3D-738E-7DABF500970A}"/>
              </a:ext>
            </a:extLst>
          </p:cNvPr>
          <p:cNvSpPr txBox="1"/>
          <p:nvPr/>
        </p:nvSpPr>
        <p:spPr>
          <a:xfrm>
            <a:off x="10134600" y="3848100"/>
            <a:ext cx="7162800" cy="3697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best feature.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data into groups.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 until classification is complete.</a:t>
            </a:r>
          </a:p>
        </p:txBody>
      </p:sp>
    </p:spTree>
    <p:extLst>
      <p:ext uri="{BB962C8B-B14F-4D97-AF65-F5344CB8AC3E}">
        <p14:creationId xmlns:p14="http://schemas.microsoft.com/office/powerpoint/2010/main" val="4128441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3AB7D-CC4F-873E-5FD1-9F2F11502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796C2594-B088-3361-0AFA-1FDD9D348B83}"/>
              </a:ext>
            </a:extLst>
          </p:cNvPr>
          <p:cNvSpPr txBox="1"/>
          <p:nvPr/>
        </p:nvSpPr>
        <p:spPr>
          <a:xfrm>
            <a:off x="2362200" y="2195680"/>
            <a:ext cx="12454772" cy="1175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buNone/>
            </a:pPr>
            <a:br>
              <a:rPr lang="en-IN" sz="4000" dirty="0"/>
            </a:br>
            <a:endParaRPr lang="en-US" sz="3640" dirty="0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grpSp>
        <p:nvGrpSpPr>
          <p:cNvPr id="15" name="Group 6">
            <a:extLst>
              <a:ext uri="{FF2B5EF4-FFF2-40B4-BE49-F238E27FC236}">
                <a16:creationId xmlns:a16="http://schemas.microsoft.com/office/drawing/2014/main" id="{FA31941E-6F15-0DEF-D8D6-91FE2304F7E4}"/>
              </a:ext>
            </a:extLst>
          </p:cNvPr>
          <p:cNvGrpSpPr/>
          <p:nvPr/>
        </p:nvGrpSpPr>
        <p:grpSpPr>
          <a:xfrm>
            <a:off x="252955" y="0"/>
            <a:ext cx="1516666" cy="1990439"/>
            <a:chOff x="0" y="0"/>
            <a:chExt cx="2022221" cy="2653919"/>
          </a:xfrm>
        </p:grpSpPr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10EA55B7-E181-1413-BB59-01540FFD2B76}"/>
                </a:ext>
              </a:extLst>
            </p:cNvPr>
            <p:cNvSpPr/>
            <p:nvPr/>
          </p:nvSpPr>
          <p:spPr>
            <a:xfrm>
              <a:off x="0" y="0"/>
              <a:ext cx="2022221" cy="2653919"/>
            </a:xfrm>
            <a:custGeom>
              <a:avLst/>
              <a:gdLst/>
              <a:ahLst/>
              <a:cxnLst/>
              <a:rect l="l" t="t" r="r" b="b"/>
              <a:pathLst>
                <a:path w="2022221" h="2653919">
                  <a:moveTo>
                    <a:pt x="0" y="0"/>
                  </a:moveTo>
                  <a:lnTo>
                    <a:pt x="2022221" y="0"/>
                  </a:lnTo>
                  <a:lnTo>
                    <a:pt x="2022221" y="2653919"/>
                  </a:lnTo>
                  <a:lnTo>
                    <a:pt x="0" y="2653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30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7" name="Group 4">
            <a:extLst>
              <a:ext uri="{FF2B5EF4-FFF2-40B4-BE49-F238E27FC236}">
                <a16:creationId xmlns:a16="http://schemas.microsoft.com/office/drawing/2014/main" id="{F361D787-BDAA-86C4-E6D1-5FC6DFE700A6}"/>
              </a:ext>
            </a:extLst>
          </p:cNvPr>
          <p:cNvGrpSpPr/>
          <p:nvPr/>
        </p:nvGrpSpPr>
        <p:grpSpPr>
          <a:xfrm>
            <a:off x="15988913" y="163982"/>
            <a:ext cx="1885188" cy="1885236"/>
            <a:chOff x="0" y="0"/>
            <a:chExt cx="2513584" cy="2513648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ED2A3EEE-A82C-FEC5-CEF8-1DC5EBF9EA78}"/>
                </a:ext>
              </a:extLst>
            </p:cNvPr>
            <p:cNvSpPr/>
            <p:nvPr/>
          </p:nvSpPr>
          <p:spPr>
            <a:xfrm>
              <a:off x="0" y="0"/>
              <a:ext cx="2513584" cy="2513584"/>
            </a:xfrm>
            <a:custGeom>
              <a:avLst/>
              <a:gdLst/>
              <a:ahLst/>
              <a:cxnLst/>
              <a:rect l="l" t="t" r="r" b="b"/>
              <a:pathLst>
                <a:path w="2513584" h="2513584">
                  <a:moveTo>
                    <a:pt x="0" y="0"/>
                  </a:moveTo>
                  <a:lnTo>
                    <a:pt x="2513584" y="0"/>
                  </a:lnTo>
                  <a:lnTo>
                    <a:pt x="2513584" y="2513584"/>
                  </a:lnTo>
                  <a:lnTo>
                    <a:pt x="0" y="2513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2" b="-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C2F7C4FF-5873-254B-6724-8D1471EC3BC1}"/>
              </a:ext>
            </a:extLst>
          </p:cNvPr>
          <p:cNvSpPr txBox="1"/>
          <p:nvPr/>
        </p:nvSpPr>
        <p:spPr>
          <a:xfrm>
            <a:off x="1143000" y="3846871"/>
            <a:ext cx="7162800" cy="5174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Entropy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impurity in data.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Gain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Chooses the best feature for splitting.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 Pruning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Removes unnecessary branches.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overfitting.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FB0FB0C-03F7-DD5E-05C5-6835F8FF7302}"/>
              </a:ext>
            </a:extLst>
          </p:cNvPr>
          <p:cNvSpPr txBox="1"/>
          <p:nvPr/>
        </p:nvSpPr>
        <p:spPr>
          <a:xfrm>
            <a:off x="4021514" y="1072635"/>
            <a:ext cx="102449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Entropy, Information Gain &amp; Advantages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CE118DE-0898-DC8C-028F-857D3DE819A1}"/>
              </a:ext>
            </a:extLst>
          </p:cNvPr>
          <p:cNvSpPr txBox="1"/>
          <p:nvPr/>
        </p:nvSpPr>
        <p:spPr>
          <a:xfrm>
            <a:off x="10134600" y="3848100"/>
            <a:ext cx="7162800" cy="2958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understand.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prediction.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for classification problems.</a:t>
            </a:r>
          </a:p>
        </p:txBody>
      </p:sp>
    </p:spTree>
    <p:extLst>
      <p:ext uri="{BB962C8B-B14F-4D97-AF65-F5344CB8AC3E}">
        <p14:creationId xmlns:p14="http://schemas.microsoft.com/office/powerpoint/2010/main" val="3245798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9270D-EE74-5F9F-6AF3-F34838737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350DB860-E59E-CCFA-A122-79D9BC9F9687}"/>
              </a:ext>
            </a:extLst>
          </p:cNvPr>
          <p:cNvSpPr txBox="1"/>
          <p:nvPr/>
        </p:nvSpPr>
        <p:spPr>
          <a:xfrm>
            <a:off x="2362200" y="2195680"/>
            <a:ext cx="12454772" cy="1175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buNone/>
            </a:pPr>
            <a:br>
              <a:rPr lang="en-IN" sz="4000" dirty="0"/>
            </a:br>
            <a:endParaRPr lang="en-US" sz="3640" dirty="0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grpSp>
        <p:nvGrpSpPr>
          <p:cNvPr id="15" name="Group 6">
            <a:extLst>
              <a:ext uri="{FF2B5EF4-FFF2-40B4-BE49-F238E27FC236}">
                <a16:creationId xmlns:a16="http://schemas.microsoft.com/office/drawing/2014/main" id="{7F84FE18-854E-117A-FFA6-3D45B3FFB48D}"/>
              </a:ext>
            </a:extLst>
          </p:cNvPr>
          <p:cNvGrpSpPr/>
          <p:nvPr/>
        </p:nvGrpSpPr>
        <p:grpSpPr>
          <a:xfrm>
            <a:off x="252955" y="0"/>
            <a:ext cx="1516666" cy="1990439"/>
            <a:chOff x="0" y="0"/>
            <a:chExt cx="2022221" cy="2653919"/>
          </a:xfrm>
        </p:grpSpPr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5E52CFC1-2F44-8F9E-4B0B-07BF2036D9C2}"/>
                </a:ext>
              </a:extLst>
            </p:cNvPr>
            <p:cNvSpPr/>
            <p:nvPr/>
          </p:nvSpPr>
          <p:spPr>
            <a:xfrm>
              <a:off x="0" y="0"/>
              <a:ext cx="2022221" cy="2653919"/>
            </a:xfrm>
            <a:custGeom>
              <a:avLst/>
              <a:gdLst/>
              <a:ahLst/>
              <a:cxnLst/>
              <a:rect l="l" t="t" r="r" b="b"/>
              <a:pathLst>
                <a:path w="2022221" h="2653919">
                  <a:moveTo>
                    <a:pt x="0" y="0"/>
                  </a:moveTo>
                  <a:lnTo>
                    <a:pt x="2022221" y="0"/>
                  </a:lnTo>
                  <a:lnTo>
                    <a:pt x="2022221" y="2653919"/>
                  </a:lnTo>
                  <a:lnTo>
                    <a:pt x="0" y="2653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30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7" name="Group 4">
            <a:extLst>
              <a:ext uri="{FF2B5EF4-FFF2-40B4-BE49-F238E27FC236}">
                <a16:creationId xmlns:a16="http://schemas.microsoft.com/office/drawing/2014/main" id="{9C9840A6-8482-0071-1235-6E6DA8C4DE0C}"/>
              </a:ext>
            </a:extLst>
          </p:cNvPr>
          <p:cNvGrpSpPr/>
          <p:nvPr/>
        </p:nvGrpSpPr>
        <p:grpSpPr>
          <a:xfrm>
            <a:off x="15988913" y="163982"/>
            <a:ext cx="1885188" cy="1885236"/>
            <a:chOff x="0" y="0"/>
            <a:chExt cx="2513584" cy="2513648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4D8EDA5D-6994-48AF-0B3D-A65C14EC07D3}"/>
                </a:ext>
              </a:extLst>
            </p:cNvPr>
            <p:cNvSpPr/>
            <p:nvPr/>
          </p:nvSpPr>
          <p:spPr>
            <a:xfrm>
              <a:off x="0" y="0"/>
              <a:ext cx="2513584" cy="2513584"/>
            </a:xfrm>
            <a:custGeom>
              <a:avLst/>
              <a:gdLst/>
              <a:ahLst/>
              <a:cxnLst/>
              <a:rect l="l" t="t" r="r" b="b"/>
              <a:pathLst>
                <a:path w="2513584" h="2513584">
                  <a:moveTo>
                    <a:pt x="0" y="0"/>
                  </a:moveTo>
                  <a:lnTo>
                    <a:pt x="2513584" y="0"/>
                  </a:lnTo>
                  <a:lnTo>
                    <a:pt x="2513584" y="2513584"/>
                  </a:lnTo>
                  <a:lnTo>
                    <a:pt x="0" y="2513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2" b="-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6DDC7569-510F-5CAB-3C27-A9CA8827F8E4}"/>
              </a:ext>
            </a:extLst>
          </p:cNvPr>
          <p:cNvSpPr txBox="1"/>
          <p:nvPr/>
        </p:nvSpPr>
        <p:spPr>
          <a:xfrm>
            <a:off x="1143000" y="2934344"/>
            <a:ext cx="7162800" cy="22198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 (SVM)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learning algorithm.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mainly for classification.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CE51604-29CD-0A40-6A5E-C7E3833B5B85}"/>
              </a:ext>
            </a:extLst>
          </p:cNvPr>
          <p:cNvSpPr txBox="1"/>
          <p:nvPr/>
        </p:nvSpPr>
        <p:spPr>
          <a:xfrm>
            <a:off x="5012114" y="942470"/>
            <a:ext cx="102449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Machines (SVM)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CECE74B-C044-DF4A-1BF3-FB07E7FB588E}"/>
              </a:ext>
            </a:extLst>
          </p:cNvPr>
          <p:cNvSpPr txBox="1"/>
          <p:nvPr/>
        </p:nvSpPr>
        <p:spPr>
          <a:xfrm>
            <a:off x="1143000" y="5524500"/>
            <a:ext cx="7162800" cy="3697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Concepts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Hyperplane separates different classes.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vectors are the closest data points.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Margin is the distance between classes.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660AC5-34B9-2F9E-2C9B-730EDAE4B8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5200" y="3443120"/>
            <a:ext cx="5538358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262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C4517-68FF-8E2C-4A9A-202B96BD3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FC56C5E9-F173-C75C-1EE5-9527E74E6208}"/>
              </a:ext>
            </a:extLst>
          </p:cNvPr>
          <p:cNvSpPr txBox="1"/>
          <p:nvPr/>
        </p:nvSpPr>
        <p:spPr>
          <a:xfrm>
            <a:off x="2362200" y="2195680"/>
            <a:ext cx="12454772" cy="1175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buNone/>
            </a:pPr>
            <a:br>
              <a:rPr lang="en-IN" sz="4000" dirty="0"/>
            </a:br>
            <a:endParaRPr lang="en-US" sz="3640" dirty="0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grpSp>
        <p:nvGrpSpPr>
          <p:cNvPr id="15" name="Group 6">
            <a:extLst>
              <a:ext uri="{FF2B5EF4-FFF2-40B4-BE49-F238E27FC236}">
                <a16:creationId xmlns:a16="http://schemas.microsoft.com/office/drawing/2014/main" id="{1D0E02DE-84C6-14FE-35AA-C7C83557788F}"/>
              </a:ext>
            </a:extLst>
          </p:cNvPr>
          <p:cNvGrpSpPr/>
          <p:nvPr/>
        </p:nvGrpSpPr>
        <p:grpSpPr>
          <a:xfrm>
            <a:off x="252955" y="0"/>
            <a:ext cx="1516666" cy="1990439"/>
            <a:chOff x="0" y="0"/>
            <a:chExt cx="2022221" cy="2653919"/>
          </a:xfrm>
        </p:grpSpPr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F47BBEAE-44F7-7B3D-ABFA-059A79DC5FAB}"/>
                </a:ext>
              </a:extLst>
            </p:cNvPr>
            <p:cNvSpPr/>
            <p:nvPr/>
          </p:nvSpPr>
          <p:spPr>
            <a:xfrm>
              <a:off x="0" y="0"/>
              <a:ext cx="2022221" cy="2653919"/>
            </a:xfrm>
            <a:custGeom>
              <a:avLst/>
              <a:gdLst/>
              <a:ahLst/>
              <a:cxnLst/>
              <a:rect l="l" t="t" r="r" b="b"/>
              <a:pathLst>
                <a:path w="2022221" h="2653919">
                  <a:moveTo>
                    <a:pt x="0" y="0"/>
                  </a:moveTo>
                  <a:lnTo>
                    <a:pt x="2022221" y="0"/>
                  </a:lnTo>
                  <a:lnTo>
                    <a:pt x="2022221" y="2653919"/>
                  </a:lnTo>
                  <a:lnTo>
                    <a:pt x="0" y="2653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30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7" name="Group 4">
            <a:extLst>
              <a:ext uri="{FF2B5EF4-FFF2-40B4-BE49-F238E27FC236}">
                <a16:creationId xmlns:a16="http://schemas.microsoft.com/office/drawing/2014/main" id="{FE9197EE-1F99-8955-113C-36B48CF086A9}"/>
              </a:ext>
            </a:extLst>
          </p:cNvPr>
          <p:cNvGrpSpPr/>
          <p:nvPr/>
        </p:nvGrpSpPr>
        <p:grpSpPr>
          <a:xfrm>
            <a:off x="15988913" y="163982"/>
            <a:ext cx="1885188" cy="1885236"/>
            <a:chOff x="0" y="0"/>
            <a:chExt cx="2513584" cy="2513648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578CEAF9-0BF1-6688-5AC0-E3A0508053C6}"/>
                </a:ext>
              </a:extLst>
            </p:cNvPr>
            <p:cNvSpPr/>
            <p:nvPr/>
          </p:nvSpPr>
          <p:spPr>
            <a:xfrm>
              <a:off x="0" y="0"/>
              <a:ext cx="2513584" cy="2513584"/>
            </a:xfrm>
            <a:custGeom>
              <a:avLst/>
              <a:gdLst/>
              <a:ahLst/>
              <a:cxnLst/>
              <a:rect l="l" t="t" r="r" b="b"/>
              <a:pathLst>
                <a:path w="2513584" h="2513584">
                  <a:moveTo>
                    <a:pt x="0" y="0"/>
                  </a:moveTo>
                  <a:lnTo>
                    <a:pt x="2513584" y="0"/>
                  </a:lnTo>
                  <a:lnTo>
                    <a:pt x="2513584" y="2513584"/>
                  </a:lnTo>
                  <a:lnTo>
                    <a:pt x="0" y="2513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2" b="-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0E122D70-93A6-32C1-2FD5-E03A0563C318}"/>
              </a:ext>
            </a:extLst>
          </p:cNvPr>
          <p:cNvSpPr txBox="1"/>
          <p:nvPr/>
        </p:nvSpPr>
        <p:spPr>
          <a:xfrm>
            <a:off x="1143000" y="3846871"/>
            <a:ext cx="7162800" cy="5913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Functions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Kernel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Polynomial Kernel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RBF (Radial Basis Function)</a:t>
            </a:r>
          </a:p>
          <a:p>
            <a:pPr>
              <a:lnSpc>
                <a:spcPct val="15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Kernels?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non-linear data.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classification accuracy.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2B871F6-2FC7-BF81-2311-D78D14092D0C}"/>
              </a:ext>
            </a:extLst>
          </p:cNvPr>
          <p:cNvSpPr txBox="1"/>
          <p:nvPr/>
        </p:nvSpPr>
        <p:spPr>
          <a:xfrm>
            <a:off x="5012114" y="1072635"/>
            <a:ext cx="102449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Functions &amp; Applications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1C068CA-A218-4D72-C7C8-10835809E81C}"/>
              </a:ext>
            </a:extLst>
          </p:cNvPr>
          <p:cNvSpPr txBox="1"/>
          <p:nvPr/>
        </p:nvSpPr>
        <p:spPr>
          <a:xfrm>
            <a:off x="10134600" y="3848100"/>
            <a:ext cx="7162800" cy="3697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recognition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classification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diagnosis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Spam detection</a:t>
            </a:r>
          </a:p>
        </p:txBody>
      </p:sp>
    </p:spTree>
    <p:extLst>
      <p:ext uri="{BB962C8B-B14F-4D97-AF65-F5344CB8AC3E}">
        <p14:creationId xmlns:p14="http://schemas.microsoft.com/office/powerpoint/2010/main" val="31572031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4CA81-B0B4-396E-1DF6-1D238C912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364CD87D-1226-361B-305B-3328151B1D7A}"/>
              </a:ext>
            </a:extLst>
          </p:cNvPr>
          <p:cNvSpPr txBox="1"/>
          <p:nvPr/>
        </p:nvSpPr>
        <p:spPr>
          <a:xfrm>
            <a:off x="2362200" y="2195680"/>
            <a:ext cx="12454772" cy="1175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buNone/>
            </a:pPr>
            <a:br>
              <a:rPr lang="en-IN" sz="4000" dirty="0"/>
            </a:br>
            <a:endParaRPr lang="en-US" sz="3640" dirty="0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grpSp>
        <p:nvGrpSpPr>
          <p:cNvPr id="15" name="Group 6">
            <a:extLst>
              <a:ext uri="{FF2B5EF4-FFF2-40B4-BE49-F238E27FC236}">
                <a16:creationId xmlns:a16="http://schemas.microsoft.com/office/drawing/2014/main" id="{33A4FA5E-0B1D-8326-41E6-B290DC192261}"/>
              </a:ext>
            </a:extLst>
          </p:cNvPr>
          <p:cNvGrpSpPr/>
          <p:nvPr/>
        </p:nvGrpSpPr>
        <p:grpSpPr>
          <a:xfrm>
            <a:off x="252955" y="0"/>
            <a:ext cx="1516666" cy="1990439"/>
            <a:chOff x="0" y="0"/>
            <a:chExt cx="2022221" cy="2653919"/>
          </a:xfrm>
        </p:grpSpPr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1BBFA825-D26A-AB3D-2AD0-30B1D744B7CA}"/>
                </a:ext>
              </a:extLst>
            </p:cNvPr>
            <p:cNvSpPr/>
            <p:nvPr/>
          </p:nvSpPr>
          <p:spPr>
            <a:xfrm>
              <a:off x="0" y="0"/>
              <a:ext cx="2022221" cy="2653919"/>
            </a:xfrm>
            <a:custGeom>
              <a:avLst/>
              <a:gdLst/>
              <a:ahLst/>
              <a:cxnLst/>
              <a:rect l="l" t="t" r="r" b="b"/>
              <a:pathLst>
                <a:path w="2022221" h="2653919">
                  <a:moveTo>
                    <a:pt x="0" y="0"/>
                  </a:moveTo>
                  <a:lnTo>
                    <a:pt x="2022221" y="0"/>
                  </a:lnTo>
                  <a:lnTo>
                    <a:pt x="2022221" y="2653919"/>
                  </a:lnTo>
                  <a:lnTo>
                    <a:pt x="0" y="2653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30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7" name="Group 4">
            <a:extLst>
              <a:ext uri="{FF2B5EF4-FFF2-40B4-BE49-F238E27FC236}">
                <a16:creationId xmlns:a16="http://schemas.microsoft.com/office/drawing/2014/main" id="{16192082-3ED0-3DFD-F607-8AB597F5A7F4}"/>
              </a:ext>
            </a:extLst>
          </p:cNvPr>
          <p:cNvGrpSpPr/>
          <p:nvPr/>
        </p:nvGrpSpPr>
        <p:grpSpPr>
          <a:xfrm>
            <a:off x="15988913" y="163982"/>
            <a:ext cx="1885188" cy="1885236"/>
            <a:chOff x="0" y="0"/>
            <a:chExt cx="2513584" cy="2513648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D210F802-6265-8ACE-8BC2-0D6DEAC34D54}"/>
                </a:ext>
              </a:extLst>
            </p:cNvPr>
            <p:cNvSpPr/>
            <p:nvPr/>
          </p:nvSpPr>
          <p:spPr>
            <a:xfrm>
              <a:off x="0" y="0"/>
              <a:ext cx="2513584" cy="2513584"/>
            </a:xfrm>
            <a:custGeom>
              <a:avLst/>
              <a:gdLst/>
              <a:ahLst/>
              <a:cxnLst/>
              <a:rect l="l" t="t" r="r" b="b"/>
              <a:pathLst>
                <a:path w="2513584" h="2513584">
                  <a:moveTo>
                    <a:pt x="0" y="0"/>
                  </a:moveTo>
                  <a:lnTo>
                    <a:pt x="2513584" y="0"/>
                  </a:lnTo>
                  <a:lnTo>
                    <a:pt x="2513584" y="2513584"/>
                  </a:lnTo>
                  <a:lnTo>
                    <a:pt x="0" y="2513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2" b="-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F274568E-14C8-3266-F312-EDC72BF7FCD7}"/>
              </a:ext>
            </a:extLst>
          </p:cNvPr>
          <p:cNvSpPr txBox="1"/>
          <p:nvPr/>
        </p:nvSpPr>
        <p:spPr>
          <a:xfrm>
            <a:off x="1143000" y="3846871"/>
            <a:ext cx="7162800" cy="443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Train-Test Split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data builds the model.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data checks performance.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Cross-Validation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Splits data into multiple parts.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reliable performance.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D654D5A-DD27-53C2-BB43-F0ACFF7FE9ED}"/>
              </a:ext>
            </a:extLst>
          </p:cNvPr>
          <p:cNvSpPr txBox="1"/>
          <p:nvPr/>
        </p:nvSpPr>
        <p:spPr>
          <a:xfrm>
            <a:off x="5743941" y="1134191"/>
            <a:ext cx="102449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Model Evaluation Techniques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6989918-00D1-8636-4A01-06C4F385D62E}"/>
              </a:ext>
            </a:extLst>
          </p:cNvPr>
          <p:cNvSpPr txBox="1"/>
          <p:nvPr/>
        </p:nvSpPr>
        <p:spPr>
          <a:xfrm>
            <a:off x="10134600" y="3848100"/>
            <a:ext cx="7162800" cy="2958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Bootstrapping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random sampling with replacement.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Estimates model stability.</a:t>
            </a:r>
          </a:p>
        </p:txBody>
      </p:sp>
    </p:spTree>
    <p:extLst>
      <p:ext uri="{BB962C8B-B14F-4D97-AF65-F5344CB8AC3E}">
        <p14:creationId xmlns:p14="http://schemas.microsoft.com/office/powerpoint/2010/main" val="3847160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E8981-65D1-0691-D83A-69EB00FE1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5F34F21A-B96B-FD4E-4590-12D9BB1719F2}"/>
              </a:ext>
            </a:extLst>
          </p:cNvPr>
          <p:cNvSpPr txBox="1"/>
          <p:nvPr/>
        </p:nvSpPr>
        <p:spPr>
          <a:xfrm>
            <a:off x="2362200" y="2195680"/>
            <a:ext cx="12454772" cy="1175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buNone/>
            </a:pPr>
            <a:br>
              <a:rPr lang="en-IN" sz="4000" dirty="0"/>
            </a:br>
            <a:endParaRPr lang="en-US" sz="3640" dirty="0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grpSp>
        <p:nvGrpSpPr>
          <p:cNvPr id="15" name="Group 6">
            <a:extLst>
              <a:ext uri="{FF2B5EF4-FFF2-40B4-BE49-F238E27FC236}">
                <a16:creationId xmlns:a16="http://schemas.microsoft.com/office/drawing/2014/main" id="{0D9BF780-77BB-BFC9-2DBA-C24C24033419}"/>
              </a:ext>
            </a:extLst>
          </p:cNvPr>
          <p:cNvGrpSpPr/>
          <p:nvPr/>
        </p:nvGrpSpPr>
        <p:grpSpPr>
          <a:xfrm>
            <a:off x="252955" y="0"/>
            <a:ext cx="1516666" cy="1990439"/>
            <a:chOff x="0" y="0"/>
            <a:chExt cx="2022221" cy="2653919"/>
          </a:xfrm>
        </p:grpSpPr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C5A47B28-0322-017F-80C5-50E47ED0C311}"/>
                </a:ext>
              </a:extLst>
            </p:cNvPr>
            <p:cNvSpPr/>
            <p:nvPr/>
          </p:nvSpPr>
          <p:spPr>
            <a:xfrm>
              <a:off x="0" y="0"/>
              <a:ext cx="2022221" cy="2653919"/>
            </a:xfrm>
            <a:custGeom>
              <a:avLst/>
              <a:gdLst/>
              <a:ahLst/>
              <a:cxnLst/>
              <a:rect l="l" t="t" r="r" b="b"/>
              <a:pathLst>
                <a:path w="2022221" h="2653919">
                  <a:moveTo>
                    <a:pt x="0" y="0"/>
                  </a:moveTo>
                  <a:lnTo>
                    <a:pt x="2022221" y="0"/>
                  </a:lnTo>
                  <a:lnTo>
                    <a:pt x="2022221" y="2653919"/>
                  </a:lnTo>
                  <a:lnTo>
                    <a:pt x="0" y="2653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30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7" name="Group 4">
            <a:extLst>
              <a:ext uri="{FF2B5EF4-FFF2-40B4-BE49-F238E27FC236}">
                <a16:creationId xmlns:a16="http://schemas.microsoft.com/office/drawing/2014/main" id="{D388CBD3-7F43-7E03-4909-27304F7B99EA}"/>
              </a:ext>
            </a:extLst>
          </p:cNvPr>
          <p:cNvGrpSpPr/>
          <p:nvPr/>
        </p:nvGrpSpPr>
        <p:grpSpPr>
          <a:xfrm>
            <a:off x="15988913" y="163982"/>
            <a:ext cx="1885188" cy="1885236"/>
            <a:chOff x="0" y="0"/>
            <a:chExt cx="2513584" cy="2513648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3AE60997-D53A-295A-3741-73D2427DF73B}"/>
                </a:ext>
              </a:extLst>
            </p:cNvPr>
            <p:cNvSpPr/>
            <p:nvPr/>
          </p:nvSpPr>
          <p:spPr>
            <a:xfrm>
              <a:off x="0" y="0"/>
              <a:ext cx="2513584" cy="2513584"/>
            </a:xfrm>
            <a:custGeom>
              <a:avLst/>
              <a:gdLst/>
              <a:ahLst/>
              <a:cxnLst/>
              <a:rect l="l" t="t" r="r" b="b"/>
              <a:pathLst>
                <a:path w="2513584" h="2513584">
                  <a:moveTo>
                    <a:pt x="0" y="0"/>
                  </a:moveTo>
                  <a:lnTo>
                    <a:pt x="2513584" y="0"/>
                  </a:lnTo>
                  <a:lnTo>
                    <a:pt x="2513584" y="2513584"/>
                  </a:lnTo>
                  <a:lnTo>
                    <a:pt x="0" y="2513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2" b="-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5528295B-9869-3461-2197-1BDA28D66030}"/>
              </a:ext>
            </a:extLst>
          </p:cNvPr>
          <p:cNvSpPr txBox="1"/>
          <p:nvPr/>
        </p:nvSpPr>
        <p:spPr>
          <a:xfrm>
            <a:off x="1412038" y="3371386"/>
            <a:ext cx="7162800" cy="3697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Metrics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F1-Score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E48E7E-E992-3BA8-6EA6-BCFBB8F1635C}"/>
              </a:ext>
            </a:extLst>
          </p:cNvPr>
          <p:cNvSpPr txBox="1"/>
          <p:nvPr/>
        </p:nvSpPr>
        <p:spPr>
          <a:xfrm>
            <a:off x="6400800" y="1088141"/>
            <a:ext cx="102449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A2A88DF-9659-863F-1F68-AFA33E0AF9A8}"/>
              </a:ext>
            </a:extLst>
          </p:cNvPr>
          <p:cNvSpPr txBox="1"/>
          <p:nvPr/>
        </p:nvSpPr>
        <p:spPr>
          <a:xfrm>
            <a:off x="10134600" y="3301208"/>
            <a:ext cx="7162800" cy="5913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Metrics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Absolute Error (MAE)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Squared Error (MSE)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 Mean Squared Error (RMSE)</a:t>
            </a:r>
          </a:p>
          <a:p>
            <a:pPr>
              <a:lnSpc>
                <a:spcPct val="15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overfitting.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generalization.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choose the best model.</a:t>
            </a:r>
          </a:p>
        </p:txBody>
      </p:sp>
    </p:spTree>
    <p:extLst>
      <p:ext uri="{BB962C8B-B14F-4D97-AF65-F5344CB8AC3E}">
        <p14:creationId xmlns:p14="http://schemas.microsoft.com/office/powerpoint/2010/main" val="1473072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950481" y="4013348"/>
            <a:ext cx="12387037" cy="2031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641"/>
              </a:lnSpc>
            </a:pPr>
            <a:r>
              <a:rPr lang="en-US" sz="11886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THANK YOU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6">
            <a:extLst>
              <a:ext uri="{FF2B5EF4-FFF2-40B4-BE49-F238E27FC236}">
                <a16:creationId xmlns:a16="http://schemas.microsoft.com/office/drawing/2014/main" id="{0BE07FF0-0170-B2EB-2234-E699B474B7A3}"/>
              </a:ext>
            </a:extLst>
          </p:cNvPr>
          <p:cNvGrpSpPr/>
          <p:nvPr/>
        </p:nvGrpSpPr>
        <p:grpSpPr>
          <a:xfrm>
            <a:off x="252955" y="0"/>
            <a:ext cx="1516666" cy="1990439"/>
            <a:chOff x="0" y="0"/>
            <a:chExt cx="2022221" cy="2653919"/>
          </a:xfrm>
        </p:grpSpPr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CA5E61E2-3BA6-8E0A-AE38-EF775C2E858E}"/>
                </a:ext>
              </a:extLst>
            </p:cNvPr>
            <p:cNvSpPr/>
            <p:nvPr/>
          </p:nvSpPr>
          <p:spPr>
            <a:xfrm>
              <a:off x="0" y="0"/>
              <a:ext cx="2022221" cy="2653919"/>
            </a:xfrm>
            <a:custGeom>
              <a:avLst/>
              <a:gdLst/>
              <a:ahLst/>
              <a:cxnLst/>
              <a:rect l="l" t="t" r="r" b="b"/>
              <a:pathLst>
                <a:path w="2022221" h="2653919">
                  <a:moveTo>
                    <a:pt x="0" y="0"/>
                  </a:moveTo>
                  <a:lnTo>
                    <a:pt x="2022221" y="0"/>
                  </a:lnTo>
                  <a:lnTo>
                    <a:pt x="2022221" y="2653919"/>
                  </a:lnTo>
                  <a:lnTo>
                    <a:pt x="0" y="2653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30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6" name="Group 4">
            <a:extLst>
              <a:ext uri="{FF2B5EF4-FFF2-40B4-BE49-F238E27FC236}">
                <a16:creationId xmlns:a16="http://schemas.microsoft.com/office/drawing/2014/main" id="{DFB484D2-A22B-25C4-79CC-F5D97A9F5E2E}"/>
              </a:ext>
            </a:extLst>
          </p:cNvPr>
          <p:cNvGrpSpPr/>
          <p:nvPr/>
        </p:nvGrpSpPr>
        <p:grpSpPr>
          <a:xfrm>
            <a:off x="15988913" y="163982"/>
            <a:ext cx="1885188" cy="1885236"/>
            <a:chOff x="0" y="0"/>
            <a:chExt cx="2513584" cy="2513648"/>
          </a:xfrm>
        </p:grpSpPr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A3761C24-D505-7877-ACDA-A7B9E671C32C}"/>
                </a:ext>
              </a:extLst>
            </p:cNvPr>
            <p:cNvSpPr/>
            <p:nvPr/>
          </p:nvSpPr>
          <p:spPr>
            <a:xfrm>
              <a:off x="0" y="0"/>
              <a:ext cx="2513584" cy="2513584"/>
            </a:xfrm>
            <a:custGeom>
              <a:avLst/>
              <a:gdLst/>
              <a:ahLst/>
              <a:cxnLst/>
              <a:rect l="l" t="t" r="r" b="b"/>
              <a:pathLst>
                <a:path w="2513584" h="2513584">
                  <a:moveTo>
                    <a:pt x="0" y="0"/>
                  </a:moveTo>
                  <a:lnTo>
                    <a:pt x="2513584" y="0"/>
                  </a:lnTo>
                  <a:lnTo>
                    <a:pt x="2513584" y="2513584"/>
                  </a:lnTo>
                  <a:lnTo>
                    <a:pt x="0" y="2513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2" b="-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</TotalTime>
  <Words>450</Words>
  <Application>Microsoft Office PowerPoint</Application>
  <PresentationFormat>Custom</PresentationFormat>
  <Paragraphs>123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Calibri</vt:lpstr>
      <vt:lpstr>Century Gothic Paneuropean</vt:lpstr>
      <vt:lpstr>Arial</vt:lpstr>
      <vt:lpstr>Times New Roman</vt:lpstr>
      <vt:lpstr>Century Gothic Paneuropean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dhars</dc:creator>
  <cp:lastModifiedBy>Dedeepya Kadiyala</cp:lastModifiedBy>
  <cp:revision>5</cp:revision>
  <dcterms:created xsi:type="dcterms:W3CDTF">2006-08-16T00:00:00Z</dcterms:created>
  <dcterms:modified xsi:type="dcterms:W3CDTF">2026-08-01T09:20:03Z</dcterms:modified>
  <dc:identifier>DAHP0lEckmo</dc:identifier>
</cp:coreProperties>
</file>